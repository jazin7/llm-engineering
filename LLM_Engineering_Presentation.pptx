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84" r:id="rId2"/>
    <p:sldId id="385" r:id="rId3"/>
    <p:sldId id="371" r:id="rId4"/>
    <p:sldId id="398" r:id="rId5"/>
    <p:sldId id="427" r:id="rId6"/>
    <p:sldId id="415" r:id="rId7"/>
    <p:sldId id="416" r:id="rId8"/>
    <p:sldId id="428" r:id="rId9"/>
    <p:sldId id="417" r:id="rId10"/>
    <p:sldId id="418" r:id="rId11"/>
    <p:sldId id="419" r:id="rId12"/>
    <p:sldId id="420" r:id="rId13"/>
    <p:sldId id="421" r:id="rId14"/>
    <p:sldId id="422" r:id="rId15"/>
    <p:sldId id="423" r:id="rId16"/>
    <p:sldId id="424" r:id="rId17"/>
    <p:sldId id="425" r:id="rId18"/>
    <p:sldId id="426" r:id="rId19"/>
    <p:sldId id="414" r:id="rId20"/>
    <p:sldId id="370" r:id="rId21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13" autoAdjust="0"/>
    <p:restoredTop sz="94830" autoAdjust="0"/>
  </p:normalViewPr>
  <p:slideViewPr>
    <p:cSldViewPr snapToObjects="1">
      <p:cViewPr varScale="1">
        <p:scale>
          <a:sx n="199" d="100"/>
          <a:sy n="199" d="100"/>
        </p:scale>
        <p:origin x="906" y="1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80" d="100"/>
          <a:sy n="80" d="100"/>
        </p:scale>
        <p:origin x="306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00993-3FDD-4E80-810D-AC24CF6A32B3}" type="datetimeFigureOut">
              <a:rPr lang="de-DE" smtClean="0"/>
              <a:t>18.07.2026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BC4235-0F98-4786-8CE2-14E0F0433C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7486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728AD-B8FF-467B-AF5F-4891412E46D0}" type="datetimeFigureOut">
              <a:rPr lang="de-DE" smtClean="0"/>
              <a:t>18.07.2026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045E6-D734-4DB2-BEE5-DF972DD20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02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DCA18-AB47-82EF-1DDD-D3A9AAFCC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1D6856-69FF-17B6-1D26-F30193C1E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5E55A63-25E7-E6C4-2D89-F60F9E01C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174324-56B3-2F72-9BC5-48A318A40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1930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0E5D2-9CCE-441F-6ED8-97682F859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E6B7734-991C-91E6-D6FE-A7AFED6BF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CCC699F-0D4A-B9AC-9896-466E2EF4F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14AFF2-210B-0CD8-5891-41CF0283A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402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8655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6DBE-78E0-153F-8E52-B9CF75220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CEAFDAB-20B0-8AE4-CE4C-C50E8BA26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309C238-1920-0A79-CC47-4FCD0871A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DFF2F3-7A8C-6384-11E5-4AFEF4461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3779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22A14-7CB6-B07C-5098-1A94C6C6B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18465A-77EE-B849-A3BA-EF4B03B3B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0E2F310-E9F8-C535-E5C4-3FCCD5946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F03F23-06F2-7132-2B7E-9059949FB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9017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26C96-8DCD-2F99-2BFE-7FD4C10A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8900E0-83E7-2865-A92B-684E7C9C68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136376-E4F3-C523-1002-D6F1B5104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6986DCF-F9F4-88C5-5612-B7CB345FD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61403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22B-8CDA-78E8-8839-F7773402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D6203B-74FD-4166-B143-7B4EC7EFE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3B5FDFE-98C8-AAE4-86ED-7736329E8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A2C853-C951-6860-BF1C-C9002033A4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5180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F3D1D-2F12-05C0-F908-989A36701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0B392A6-3B9C-CC72-E0EF-DD6D48AF6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EF06940-ACC0-E30A-CF86-9658739C9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53247A-15FE-EE17-2D7B-29D895C74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0411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37555-DA29-789C-87B0-C7E401DB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71084C0-58D4-792B-46A7-81171DD511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07137E-2351-C601-E9D4-AEF65E789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F0F756-E603-F0AD-94F7-6A76A45A8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762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006F6-7337-0E08-FDEA-FEC611CD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55A21C7-7DE7-8C73-B0BB-A6C8B479B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86404F-33DD-44A4-2B3B-29E7D828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CA931F-F7AF-EE5A-FC0E-E2FB963E51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1633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32590-EDD1-297C-7F91-ED1C0FED0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AFDF40-C453-B040-1533-6D92B0EFE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441DB5-AF0A-2492-5580-ECCD01F57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B70481-AD77-D858-C09A-05D73224E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65826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DBEA3-CF95-3579-485B-93ABE4D97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986951-6488-B7EF-A7BA-55F4C3E49C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46B0EEE-8D5A-D4C1-10A3-F987B05AE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B7E5F9-6A7D-A923-D702-75E4C026D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7568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993E-8D77-5E16-F0AF-FB556A9B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9493B90-410F-B50B-1BFC-910474F37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620BB4F-ABCC-B845-A2BC-C7A614407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754848-7CF2-58FE-E1C4-764230821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268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91253-7324-A9D8-717F-D7F42DA57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16616BB-36DE-BFBD-85E0-F7E0472C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123AC14-1DFC-C2C8-D9BF-EF2C55EB6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EFF636-96AC-D6DF-13C6-095522541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59111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E26-4058-69FA-A54E-F67ADEA4D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1BA13-8190-CCD1-D193-3CC68DF9A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BC29CD9-A12E-EC04-D1F6-A162CB1A5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771218-A56F-CC08-6BA1-88C845AD3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5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78DC-572F-B82F-4A1B-974D8BC76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8AD1042-DFB8-7008-5737-B0F90BFFD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109B71-83CA-FB9B-8312-D87C79395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263239-2A44-72FB-EC86-D1E3D45C7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04544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747F5-FABA-1D8D-5D93-11C8D06F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3EC5101-F9DC-D746-9C9E-AFE3E1E99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B40D8F1-43E7-DE9D-21D6-4309CF42B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C1E5CE-608C-0F2F-FA87-EDCF408A6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20259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4B597-70DC-E5F4-2E75-C355A2D1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B2F0A3D-4717-892D-25DF-20F0D77B3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A2A574F-0C50-322D-2D55-24DB0AF7B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1DC30F-8688-1619-C864-61F32D23C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9132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4E3FC-704C-FB58-1878-06199C6D6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907237-D81B-8407-D1E9-98ACB97E0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ED6FD53-53E9-AEDB-175E-76BB88EF4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EECDEE-D108-9424-53C4-795FBE2493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6882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1259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9F4C68DA-A566-1026-B850-E8E43B1C7CE8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468000" y="4230000"/>
            <a:ext cx="7560000" cy="324000"/>
          </a:xfrm>
        </p:spPr>
        <p:txBody>
          <a:bodyPr/>
          <a:lstStyle>
            <a:lvl1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2pPr>
            <a:lvl3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3pPr>
            <a:lvl4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4pPr>
            <a:lvl5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5pPr>
            <a:lvl6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6pPr>
            <a:lvl7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7pPr>
            <a:lvl8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8pPr>
            <a:lvl9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>
          <a:xfrm>
            <a:off x="468000" y="4680000"/>
            <a:ext cx="7560000" cy="144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259FB325-4F00-4E24-9BB5-CBE59A8EE6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3895200"/>
            <a:ext cx="6552272" cy="324000"/>
          </a:xfrm>
        </p:spPr>
        <p:txBody>
          <a:bodyPr/>
          <a:lstStyle>
            <a:lvl1pPr>
              <a:lnSpc>
                <a:spcPts val="2500"/>
              </a:lnSpc>
              <a:defRPr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EA11C8C5-D6EB-4C5D-9539-1ADEFC0908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77199" y="3895200"/>
            <a:ext cx="2505600" cy="324000"/>
          </a:xfrm>
        </p:spPr>
        <p:txBody>
          <a:bodyPr anchor="ctr" anchorCtr="0"/>
          <a:lstStyle>
            <a:lvl1pPr algn="ctr">
              <a:defRPr sz="1050"/>
            </a:lvl1pPr>
          </a:lstStyle>
          <a:p>
            <a:r>
              <a:rPr lang="de-DE" dirty="0"/>
              <a:t>Logo auf Platzhalter ziehen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638057-3C3C-C397-494C-B6D71484C0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403" y="3372081"/>
            <a:ext cx="2280138" cy="152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1A11A22-2E41-AF13-75DF-64DB627B093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-1"/>
            <a:ext cx="8428561" cy="3030633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D600E272-C75A-43FB-581D-B2A6964FE026}"/>
              </a:ext>
            </a:extLst>
          </p:cNvPr>
          <p:cNvSpPr/>
          <p:nvPr userDrawn="1"/>
        </p:nvSpPr>
        <p:spPr>
          <a:xfrm>
            <a:off x="0" y="-1"/>
            <a:ext cx="8460432" cy="307580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8EB4B7C-A37E-D9B2-79CA-EB88C08DEF6A}"/>
              </a:ext>
            </a:extLst>
          </p:cNvPr>
          <p:cNvSpPr txBox="1"/>
          <p:nvPr userDrawn="1"/>
        </p:nvSpPr>
        <p:spPr>
          <a:xfrm>
            <a:off x="3531330" y="1515315"/>
            <a:ext cx="104067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TITELBILD</a:t>
            </a:r>
          </a:p>
        </p:txBody>
      </p:sp>
      <p:pic>
        <p:nvPicPr>
          <p:cNvPr id="9" name="Bild 5">
            <a:extLst>
              <a:ext uri="{FF2B5EF4-FFF2-40B4-BE49-F238E27FC236}">
                <a16:creationId xmlns:a16="http://schemas.microsoft.com/office/drawing/2014/main" id="{AA066B78-9BB3-BCD0-A3B3-67533DF2A89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693636" y="-1"/>
            <a:ext cx="1090364" cy="10903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2586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HERVORHEBUNG MIT VIEL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8A6D120-9FDF-4BA4-88F2-0C6E4507EEA9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F15F71-44DB-4D13-AE55-D28F1D1B7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756000"/>
            <a:ext cx="8172000" cy="720000"/>
          </a:xfrm>
        </p:spPr>
        <p:txBody>
          <a:bodyPr/>
          <a:lstStyle>
            <a:lvl1pPr>
              <a:lnSpc>
                <a:spcPts val="5700"/>
              </a:lnSpc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3B6EDCF-E80D-4E83-A8E4-8D2B26F44C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000" y="1476441"/>
            <a:ext cx="8172000" cy="1439863"/>
          </a:xfrm>
        </p:spPr>
        <p:txBody>
          <a:bodyPr/>
          <a:lstStyle>
            <a:lvl1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1pPr>
            <a:lvl2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2pPr>
            <a:lvl3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3pPr>
            <a:lvl4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4pPr>
            <a:lvl5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5pPr>
            <a:lvl6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6pPr>
            <a:lvl7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7pPr>
            <a:lvl8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8pPr>
            <a:lvl9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Hervorhebung</a:t>
            </a:r>
          </a:p>
        </p:txBody>
      </p:sp>
    </p:spTree>
    <p:extLst>
      <p:ext uri="{BB962C8B-B14F-4D97-AF65-F5344CB8AC3E}">
        <p14:creationId xmlns:p14="http://schemas.microsoft.com/office/powerpoint/2010/main" val="2910894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HERVORHEBUNG MIT VIEL INH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8A6D120-9FDF-4BA4-88F2-0C6E4507EEA9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F15F71-44DB-4D13-AE55-D28F1D1B7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828000"/>
            <a:ext cx="8172000" cy="540000"/>
          </a:xfrm>
        </p:spPr>
        <p:txBody>
          <a:bodyPr/>
          <a:lstStyle>
            <a:lvl1pPr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3B6EDCF-E80D-4E83-A8E4-8D2B26F44C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000" y="1367999"/>
            <a:ext cx="8172000" cy="2916000"/>
          </a:xfrm>
        </p:spPr>
        <p:txBody>
          <a:bodyPr/>
          <a:lstStyle>
            <a:lvl1pPr>
              <a:lnSpc>
                <a:spcPts val="4400"/>
              </a:lnSpc>
              <a:spcAft>
                <a:spcPts val="0"/>
              </a:spcAft>
              <a:defRPr sz="3600" b="0">
                <a:solidFill>
                  <a:schemeClr val="bg1"/>
                </a:solidFill>
              </a:defRPr>
            </a:lvl1pPr>
            <a:lvl2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2pPr>
            <a:lvl3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3pPr>
            <a:lvl4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4pPr>
            <a:lvl5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5pPr>
            <a:lvl6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6pPr>
            <a:lvl7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7pPr>
            <a:lvl8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8pPr>
            <a:lvl9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Hervorhebung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7051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Headline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 defTabSz="234000">
              <a:tabLst>
                <a:tab pos="234000" algn="l"/>
              </a:tabLst>
              <a:defRPr/>
            </a:lvl2pPr>
            <a:lvl3pPr defTabSz="234000">
              <a:tabLst>
                <a:tab pos="234000" algn="l"/>
              </a:tabLst>
              <a:defRPr/>
            </a:lvl3pPr>
            <a:lvl4pPr defTabSz="234000">
              <a:tabLst>
                <a:tab pos="234000" algn="l"/>
              </a:tabLst>
              <a:defRPr/>
            </a:lvl4pPr>
            <a:lvl5pPr defTabSz="234000">
              <a:tabLst>
                <a:tab pos="234000" algn="l"/>
              </a:tabLst>
              <a:defRPr/>
            </a:lvl5pPr>
            <a:lvl6pPr marL="0" indent="0" defTabSz="234000">
              <a:buFont typeface="+mj-lt"/>
              <a:buNone/>
              <a:tabLst>
                <a:tab pos="234000" algn="l"/>
              </a:tabLst>
              <a:defRPr/>
            </a:lvl6pPr>
            <a:lvl7pPr defTabSz="234000">
              <a:tabLst>
                <a:tab pos="234000" algn="l"/>
              </a:tabLst>
              <a:defRPr/>
            </a:lvl7pPr>
            <a:lvl8pPr defTabSz="234000">
              <a:tabLst>
                <a:tab pos="234000" algn="l"/>
              </a:tabLst>
              <a:defRPr/>
            </a:lvl8pPr>
            <a:lvl9pPr defTabSz="234000">
              <a:tabLst>
                <a:tab pos="234000" algn="l"/>
              </a:tabLst>
              <a:defRPr/>
            </a:lvl9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05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line //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5A8BB0B-4BD0-4791-8A9B-89C9D0000E3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68000" y="918000"/>
            <a:ext cx="8172000" cy="336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Tabelle durch Klicken auf Symbol hinzufügen</a:t>
            </a:r>
            <a:endParaRPr lang="de-DE" dirty="0"/>
          </a:p>
        </p:txBody>
      </p:sp>
      <p:grpSp>
        <p:nvGrpSpPr>
          <p:cNvPr id="6" name="Regieanweisungen">
            <a:extLst>
              <a:ext uri="{FF2B5EF4-FFF2-40B4-BE49-F238E27FC236}">
                <a16:creationId xmlns:a16="http://schemas.microsoft.com/office/drawing/2014/main" id="{20CE116F-C667-495A-B654-8B72C3A079E7}"/>
              </a:ext>
            </a:extLst>
          </p:cNvPr>
          <p:cNvGrpSpPr/>
          <p:nvPr userDrawn="1"/>
        </p:nvGrpSpPr>
        <p:grpSpPr>
          <a:xfrm>
            <a:off x="-2628800" y="-468000"/>
            <a:ext cx="14833648" cy="6083999"/>
            <a:chOff x="-2628800" y="-468000"/>
            <a:chExt cx="14833648" cy="6083999"/>
          </a:xfrm>
        </p:grpSpPr>
        <p:sp>
          <p:nvSpPr>
            <p:cNvPr id="16" name="Listenebenen">
              <a:extLst>
                <a:ext uri="{FF2B5EF4-FFF2-40B4-BE49-F238E27FC236}">
                  <a16:creationId xmlns:a16="http://schemas.microsoft.com/office/drawing/2014/main" id="{84A0104B-AA90-4DE7-ADAE-6959FBC15DB1}"/>
                </a:ext>
              </a:extLst>
            </p:cNvPr>
            <p:cNvSpPr txBox="1"/>
            <p:nvPr userDrawn="1"/>
          </p:nvSpPr>
          <p:spPr>
            <a:xfrm rot="10800000" flipH="1" flipV="1">
              <a:off x="-2628800" y="1368000"/>
              <a:ext cx="2520800" cy="1527786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Einfärbung einer Spalte/Zeile: </a:t>
              </a:r>
              <a:br>
                <a:rPr lang="de-DE" sz="12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Markieren der Spalte/Zeile:</a:t>
              </a: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 Entwurf / Tabellentools &gt; Schattierung &gt;</a:t>
              </a: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de-DE" sz="1200" b="1" baseline="0" dirty="0">
                <a:solidFill>
                  <a:schemeClr val="tx1"/>
                </a:solidFill>
                <a:latin typeface="+mn-lt"/>
              </a:endParaRP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Die gewünschte Farbe aus den Designfarben auswählen</a:t>
              </a:r>
            </a:p>
          </p:txBody>
        </p:sp>
        <p:sp>
          <p:nvSpPr>
            <p:cNvPr id="10" name="Zurücksetzen">
              <a:extLst>
                <a:ext uri="{FF2B5EF4-FFF2-40B4-BE49-F238E27FC236}">
                  <a16:creationId xmlns:a16="http://schemas.microsoft.com/office/drawing/2014/main" id="{431D1FFE-03BA-4520-A89B-CDD1BC7E4751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648000"/>
              <a:ext cx="1944000" cy="61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bringen über Menü: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1" name="Hilfslinien">
              <a:extLst>
                <a:ext uri="{FF2B5EF4-FFF2-40B4-BE49-F238E27FC236}">
                  <a16:creationId xmlns:a16="http://schemas.microsoft.com/office/drawing/2014/main" id="{38EA8585-E11F-4D10-9DAB-78E6756B2D63}"/>
                </a:ext>
              </a:extLst>
            </p:cNvPr>
            <p:cNvSpPr txBox="1"/>
            <p:nvPr userDrawn="1"/>
          </p:nvSpPr>
          <p:spPr>
            <a:xfrm rot="10800000" flipH="1" flipV="1">
              <a:off x="431801" y="-468000"/>
              <a:ext cx="82804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03341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Löschen einer Spalte/Zeile: </a:t>
              </a:r>
              <a:r>
                <a:rPr kumimoji="0" lang="de-DE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Markieren der Spalte/Zeile: Layout &gt; Löschen &gt; Spalte bzw. Zeile löschen</a:t>
              </a:r>
            </a:p>
          </p:txBody>
        </p:sp>
        <p:sp>
          <p:nvSpPr>
            <p:cNvPr id="12" name="Fußzeile">
              <a:extLst>
                <a:ext uri="{FF2B5EF4-FFF2-40B4-BE49-F238E27FC236}">
                  <a16:creationId xmlns:a16="http://schemas.microsoft.com/office/drawing/2014/main" id="{4EFB3271-7B15-42ED-A704-B39FAEDC1436}"/>
                </a:ext>
              </a:extLst>
            </p:cNvPr>
            <p:cNvSpPr txBox="1"/>
            <p:nvPr userDrawn="1"/>
          </p:nvSpPr>
          <p:spPr>
            <a:xfrm rot="10800000" flipH="1" flipV="1">
              <a:off x="431800" y="5255998"/>
              <a:ext cx="8280400" cy="360001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03341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13" name="Layoutwechsel">
              <a:extLst>
                <a:ext uri="{FF2B5EF4-FFF2-40B4-BE49-F238E27FC236}">
                  <a16:creationId xmlns:a16="http://schemas.microsoft.com/office/drawing/2014/main" id="{6BCDAEA0-53BC-4E57-84CA-5C530F05A90E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2283786"/>
              <a:ext cx="2952848" cy="1044048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Einfügen einer Spalte/Zeile: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Markieren der Spalte/Zeile neben der eine weitere eingefügt werden soll: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Layout &gt; Hier die gewünschte Einfügeoption auswählen</a:t>
              </a:r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4573989D-8FFD-4555-AAB7-592C2CE3AC9F}"/>
              </a:ext>
            </a:extLst>
          </p:cNvPr>
          <p:cNvCxnSpPr/>
          <p:nvPr userDrawn="1"/>
        </p:nvCxnSpPr>
        <p:spPr>
          <a:xfrm>
            <a:off x="0" y="4485600"/>
            <a:ext cx="9144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F3269418-AEC9-43D6-9A0C-41CA02546B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513"/>
          <a:stretch/>
        </p:blipFill>
        <p:spPr>
          <a:xfrm>
            <a:off x="9252000" y="3327773"/>
            <a:ext cx="2067213" cy="86415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81CC49D-33BF-49DC-B533-86BE2EB412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08000" y="4679640"/>
            <a:ext cx="1512000" cy="2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41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5148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Vollbild durch klicken einfügen.</a:t>
            </a:r>
          </a:p>
        </p:txBody>
      </p:sp>
    </p:spTree>
    <p:extLst>
      <p:ext uri="{BB962C8B-B14F-4D97-AF65-F5344CB8AC3E}">
        <p14:creationId xmlns:p14="http://schemas.microsoft.com/office/powerpoint/2010/main" val="3911177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2052000" y="468000"/>
            <a:ext cx="5040000" cy="336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51999" y="3952800"/>
            <a:ext cx="5040000" cy="32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25704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92" userDrawn="1">
          <p15:clr>
            <a:srgbClr val="FBAE40"/>
          </p15:clr>
        </p15:guide>
        <p15:guide id="2" pos="4468" userDrawn="1">
          <p15:clr>
            <a:srgbClr val="FBAE40"/>
          </p15:clr>
        </p15:guide>
        <p15:guide id="3" orient="horz" pos="291" userDrawn="1">
          <p15:clr>
            <a:srgbClr val="FBAE40"/>
          </p15:clr>
        </p15:guide>
        <p15:guide id="4" orient="horz" pos="241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8000" y="468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8000" y="3240000"/>
            <a:ext cx="3960000" cy="104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</a:t>
            </a:r>
            <a:r>
              <a:rPr lang="de-DE" dirty="0" err="1"/>
              <a:t>Bildunterzeile</a:t>
            </a:r>
            <a:r>
              <a:rPr lang="de-DE" dirty="0"/>
              <a:t>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CFABEA7C-7103-4FAC-AAB1-B8FF068486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80000" y="468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CA26BD8-E4CD-4A9F-ACC0-895F1FD274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240000"/>
            <a:ext cx="3960000" cy="104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</a:t>
            </a:r>
            <a:r>
              <a:rPr lang="de-DE" dirty="0" err="1"/>
              <a:t>Bildunterzeile</a:t>
            </a:r>
            <a:r>
              <a:rPr lang="de-DE" dirty="0"/>
              <a:t> // für weitere Ebenen (Text)  &gt;&gt; Menü &gt; Start &gt; Absatz &gt; Listenebene erhöhen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622643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 userDrawn="1">
          <p15:clr>
            <a:srgbClr val="FBAE40"/>
          </p15:clr>
        </p15:guide>
        <p15:guide id="2" pos="5443" userDrawn="1">
          <p15:clr>
            <a:srgbClr val="FBAE40"/>
          </p15:clr>
        </p15:guide>
        <p15:guide id="3" orient="horz" pos="291">
          <p15:clr>
            <a:srgbClr val="FBAE40"/>
          </p15:clr>
        </p15:guide>
        <p15:guide id="4" orient="horz" pos="1963" userDrawn="1">
          <p15:clr>
            <a:srgbClr val="FBAE40"/>
          </p15:clr>
        </p15:guide>
        <p15:guide id="5" pos="279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 inkl.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8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8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CFABEA7C-7103-4FAC-AAB1-B8FF068486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80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CA26BD8-E4CD-4A9F-ACC0-895F1FD274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0B3784F-BC20-4A45-986C-728B00F596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</p:spTree>
    <p:extLst>
      <p:ext uri="{BB962C8B-B14F-4D97-AF65-F5344CB8AC3E}">
        <p14:creationId xmlns:p14="http://schemas.microsoft.com/office/powerpoint/2010/main" val="426225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269" userDrawn="1">
          <p15:clr>
            <a:srgbClr val="FBAE40"/>
          </p15:clr>
        </p15:guide>
        <p15:guide id="5" pos="2790">
          <p15:clr>
            <a:srgbClr val="FBAE40"/>
          </p15:clr>
        </p15:guide>
        <p15:guide id="6" pos="54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324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04000" y="954000"/>
            <a:ext cx="4536000" cy="3024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4119991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83" userDrawn="1">
          <p15:clr>
            <a:srgbClr val="FBAE40"/>
          </p15:clr>
        </p15:guide>
        <p15:guide id="2" pos="5444" userDrawn="1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50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Bild inkl. Bildunter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4104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 dirty="0"/>
              <a:t>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E8C92916-9C2D-4160-84A7-92C7AE8CF3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587194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 userDrawn="1">
          <p15:clr>
            <a:srgbClr val="FBAE40"/>
          </p15:clr>
        </p15:guide>
        <p15:guide id="2" pos="5444" userDrawn="1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26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Bild inkl. Bildunterzeile /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220000" y="918000"/>
            <a:ext cx="342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E8C92916-9C2D-4160-84A7-92C7AE8CF3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413746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22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540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0000" y="954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3CCF540-0E4F-47A6-981D-1A856FBCB4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80000" y="2628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456241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077" userDrawn="1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1653" userDrawn="1">
          <p15:clr>
            <a:srgbClr val="FBAE40"/>
          </p15:clr>
        </p15:guide>
        <p15:guide id="5" orient="horz" pos="2564" userDrawn="1">
          <p15:clr>
            <a:srgbClr val="FBAE40"/>
          </p15:clr>
        </p15:guide>
        <p15:guide id="6" orient="horz" pos="151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2 Bilder /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240000" y="918000"/>
            <a:ext cx="540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" y="954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3CCF540-0E4F-47A6-981D-1A856FBCB4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8000" y="2628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987010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58" userDrawn="1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1653">
          <p15:clr>
            <a:srgbClr val="FBAE40"/>
          </p15:clr>
        </p15:guide>
        <p15:guide id="5" orient="horz" pos="2564">
          <p15:clr>
            <a:srgbClr val="FBAE40"/>
          </p15:clr>
        </p15:guide>
        <p15:guide id="6" orient="horz" pos="1513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HEADLINE EINFÜGEN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674647-E98A-4E91-B769-603FBD38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36340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E7FEC2D-DBFC-481D-89EF-55316F02D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0000" y="4840014"/>
            <a:ext cx="6300000" cy="1080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MENSCHLICH – WELTOFFEN – LEISTUNGSSTARK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C5583F-31A1-412C-900F-41106AD78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‹Nr.›</a:t>
            </a:fld>
            <a:r>
              <a:rPr lang="de-DE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17796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0000" y="5524114"/>
            <a:ext cx="4284008" cy="179984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DEEBD-E611-4601-8478-2EAA0B8A850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52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 userDrawn="1">
            <p:ph type="title"/>
          </p:nvPr>
        </p:nvSpPr>
        <p:spPr>
          <a:xfrm>
            <a:off x="468000" y="396000"/>
            <a:ext cx="7560000" cy="46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KAPITEL | CHART-HEADLINE</a:t>
            </a:r>
          </a:p>
        </p:txBody>
      </p:sp>
      <p:sp>
        <p:nvSpPr>
          <p:cNvPr id="3" name="Textplatzhalter 2"/>
          <p:cNvSpPr>
            <a:spLocks noGrp="1"/>
          </p:cNvSpPr>
          <p:nvPr userDrawn="1">
            <p:ph type="body" idx="1"/>
          </p:nvPr>
        </p:nvSpPr>
        <p:spPr>
          <a:xfrm>
            <a:off x="468000" y="918000"/>
            <a:ext cx="7560000" cy="336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(Text und Aufzählungen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98AA80-601F-3413-3F50-122C39092FD0}"/>
              </a:ext>
            </a:extLst>
          </p:cNvPr>
          <p:cNvSpPr/>
          <p:nvPr userDrawn="1"/>
        </p:nvSpPr>
        <p:spPr>
          <a:xfrm>
            <a:off x="0" y="4663543"/>
            <a:ext cx="9144000" cy="479957"/>
          </a:xfrm>
          <a:prstGeom prst="rect">
            <a:avLst/>
          </a:prstGeom>
          <a:solidFill>
            <a:srgbClr val="00356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013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4F3000F-F0D4-1793-33CE-24941C3028C4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52482" y="4747500"/>
            <a:ext cx="1271159" cy="339502"/>
          </a:xfrm>
          <a:prstGeom prst="rect">
            <a:avLst/>
          </a:prstGeom>
        </p:spPr>
      </p:pic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324000" y="4840014"/>
            <a:ext cx="252000" cy="108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baseline="0">
                <a:ln>
                  <a:solidFill>
                    <a:schemeClr val="bg1"/>
                  </a:solidFill>
                </a:ln>
                <a:solidFill>
                  <a:schemeClr val="tx2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9pPr>
          </a:lstStyle>
          <a:p>
            <a:fld id="{6C8FC03C-C266-4645-ABC5-645062898383}" type="slidenum">
              <a:rPr lang="de-DE" smtClean="0"/>
              <a:pPr/>
              <a:t>‹Nr.›</a:t>
            </a:fld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041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0" r:id="rId4"/>
    <p:sldLayoutId id="2147483667" r:id="rId5"/>
    <p:sldLayoutId id="2147483658" r:id="rId6"/>
    <p:sldLayoutId id="2147483659" r:id="rId7"/>
    <p:sldLayoutId id="2147483660" r:id="rId8"/>
    <p:sldLayoutId id="2147483661" r:id="rId9"/>
    <p:sldLayoutId id="2147483663" r:id="rId10"/>
    <p:sldLayoutId id="2147483662" r:id="rId11"/>
    <p:sldLayoutId id="2147483664" r:id="rId12"/>
    <p:sldLayoutId id="2147483665" r:id="rId13"/>
    <p:sldLayoutId id="2147483666" r:id="rId14"/>
    <p:sldLayoutId id="2147483654" r:id="rId15"/>
    <p:sldLayoutId id="2147483655" r:id="rId16"/>
    <p:sldLayoutId id="2147483668" r:id="rId17"/>
  </p:sldLayoutIdLst>
  <p:hf hdr="0" ftr="0" dt="0"/>
  <p:txStyles>
    <p:title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2700" b="0" kern="1200" baseline="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1200"/>
        </a:spcAft>
        <a:buSzPct val="75000"/>
        <a:buFont typeface="Arial" panose="020B0604020202020204" pitchFamily="34" charset="0"/>
        <a:buNone/>
        <a:defRPr sz="1500" b="1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234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bg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468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702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2" userDrawn="1">
          <p15:clr>
            <a:srgbClr val="5ACBF0"/>
          </p15:clr>
        </p15:guide>
        <p15:guide id="2" pos="5059" userDrawn="1">
          <p15:clr>
            <a:srgbClr val="5ACBF0"/>
          </p15:clr>
        </p15:guide>
        <p15:guide id="3" orient="horz" pos="245" userDrawn="1">
          <p15:clr>
            <a:srgbClr val="5ACBF0"/>
          </p15:clr>
        </p15:guide>
        <p15:guide id="4" orient="horz" pos="2700" userDrawn="1">
          <p15:clr>
            <a:srgbClr val="5ACBF0"/>
          </p15:clr>
        </p15:guide>
        <p15:guide id="5" pos="544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22D93-37C2-261B-DB66-F180334F9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liennummer">
            <a:extLst>
              <a:ext uri="{FF2B5EF4-FFF2-40B4-BE49-F238E27FC236}">
                <a16:creationId xmlns:a16="http://schemas.microsoft.com/office/drawing/2014/main" id="{1D9017B5-B435-D333-F19A-7255C1543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1</a:t>
            </a:fld>
            <a:r>
              <a:rPr lang="en-GB" noProof="0" dirty="0"/>
              <a:t> </a:t>
            </a:r>
          </a:p>
        </p:txBody>
      </p:sp>
      <p:sp>
        <p:nvSpPr>
          <p:cNvPr id="6" name="Titel">
            <a:extLst>
              <a:ext uri="{FF2B5EF4-FFF2-40B4-BE49-F238E27FC236}">
                <a16:creationId xmlns:a16="http://schemas.microsoft.com/office/drawing/2014/main" id="{4FDB137A-DA9D-A04F-92AB-745BF55874BA}"/>
              </a:ext>
            </a:extLst>
          </p:cNvPr>
          <p:cNvSpPr txBox="1">
            <a:spLocks/>
          </p:cNvSpPr>
          <p:nvPr/>
        </p:nvSpPr>
        <p:spPr>
          <a:xfrm>
            <a:off x="0" y="360040"/>
            <a:ext cx="9144000" cy="141962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6000" b="1" noProof="0" dirty="0">
                <a:latin typeface="+mj-lt"/>
                <a:cs typeface="Arial" panose="020B0604020202020204" pitchFamily="34" charset="0"/>
              </a:rPr>
            </a:br>
            <a:r>
              <a:rPr lang="en-GB" sz="4400" b="1" noProof="0" dirty="0"/>
              <a:t>Evaluating Agents</a:t>
            </a:r>
          </a:p>
          <a:p>
            <a:pPr algn="ctr"/>
            <a:endParaRPr lang="en-GB" sz="4400" b="1" noProof="0" dirty="0">
              <a:latin typeface="+mj-lt"/>
            </a:endParaRPr>
          </a:p>
          <a:p>
            <a:pPr algn="ctr"/>
            <a:endParaRPr lang="en-GB" sz="4400" b="1" noProof="0" dirty="0">
              <a:latin typeface="+mj-lt"/>
            </a:endParaRPr>
          </a:p>
          <a:p>
            <a:endParaRPr lang="en-GB" sz="4400" b="1" noProof="0" dirty="0">
              <a:latin typeface="+mj-lt"/>
            </a:endParaRPr>
          </a:p>
          <a:p>
            <a:endParaRPr lang="en-GB" sz="6000" b="1" noProof="0" dirty="0">
              <a:latin typeface="+mj-lt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CC25E339-40ED-65B4-C74E-00E4F1AC8100}"/>
              </a:ext>
            </a:extLst>
          </p:cNvPr>
          <p:cNvCxnSpPr>
            <a:cxnSpLocks/>
          </p:cNvCxnSpPr>
          <p:nvPr/>
        </p:nvCxnSpPr>
        <p:spPr>
          <a:xfrm>
            <a:off x="251520" y="2571750"/>
            <a:ext cx="8640960" cy="0"/>
          </a:xfrm>
          <a:prstGeom prst="line">
            <a:avLst/>
          </a:prstGeom>
          <a:ln w="952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lientext">
            <a:extLst>
              <a:ext uri="{FF2B5EF4-FFF2-40B4-BE49-F238E27FC236}">
                <a16:creationId xmlns:a16="http://schemas.microsoft.com/office/drawing/2014/main" id="{AC6D8F23-3BEF-C5B5-A444-25B25F50B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000" y="3507852"/>
            <a:ext cx="2591816" cy="576066"/>
          </a:xfrm>
        </p:spPr>
        <p:txBody>
          <a:bodyPr/>
          <a:lstStyle/>
          <a:p>
            <a:pPr marL="0" lvl="2" indent="0">
              <a:lnSpc>
                <a:spcPct val="100000"/>
              </a:lnSpc>
              <a:buClr>
                <a:schemeClr val="tx2"/>
              </a:buClr>
              <a:buSzPct val="130000"/>
              <a:buNone/>
            </a:pPr>
            <a:r>
              <a:rPr lang="en-GB" sz="200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LLM Engineering</a:t>
            </a:r>
            <a:br>
              <a:rPr lang="en-GB" sz="200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</a:br>
            <a:br>
              <a:rPr lang="en-GB" sz="200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</a:br>
            <a:r>
              <a:rPr lang="en-GB" sz="2000" dirty="0"/>
              <a:t>20.07.2026</a:t>
            </a:r>
            <a:endParaRPr lang="en-GB" sz="2000" noProof="0" dirty="0">
              <a:latin typeface="+mj-lt"/>
            </a:endParaRPr>
          </a:p>
        </p:txBody>
      </p:sp>
      <p:sp>
        <p:nvSpPr>
          <p:cNvPr id="11" name="Folientext">
            <a:extLst>
              <a:ext uri="{FF2B5EF4-FFF2-40B4-BE49-F238E27FC236}">
                <a16:creationId xmlns:a16="http://schemas.microsoft.com/office/drawing/2014/main" id="{212C980F-75FF-61F0-21C3-1C15EE69982B}"/>
              </a:ext>
            </a:extLst>
          </p:cNvPr>
          <p:cNvSpPr txBox="1">
            <a:spLocks/>
          </p:cNvSpPr>
          <p:nvPr/>
        </p:nvSpPr>
        <p:spPr>
          <a:xfrm>
            <a:off x="3707904" y="3579866"/>
            <a:ext cx="5256584" cy="108011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1200"/>
              </a:spcAft>
              <a:buSzPct val="75000"/>
              <a:buFont typeface="Arial" panose="020B0604020202020204" pitchFamily="34" charset="0"/>
              <a:buNone/>
              <a:defRPr sz="15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SzPct val="75000"/>
              <a:buFont typeface="Arial" panose="020B0604020202020204" pitchFamily="34" charset="0"/>
              <a:buNone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234000" indent="-23400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100000"/>
              <a:buFont typeface="Wingdings" panose="05000000000000000000" pitchFamily="2" charset="2"/>
              <a:buChar char="§"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68000" indent="-23400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02000" indent="-23400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SzPct val="75000"/>
              <a:buFont typeface="Arial" panose="020B0604020202020204" pitchFamily="34" charset="0"/>
              <a:buNone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SzPct val="75000"/>
              <a:buFont typeface="Arial" panose="020B0604020202020204" pitchFamily="34" charset="0"/>
              <a:buNone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SzPct val="75000"/>
              <a:buFont typeface="Arial" panose="020B0604020202020204" pitchFamily="34" charset="0"/>
              <a:buNone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685800" rtl="0" eaLnBrk="1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SzPct val="75000"/>
              <a:buFont typeface="Arial" panose="020B0604020202020204" pitchFamily="34" charset="0"/>
              <a:buNone/>
              <a:defRPr sz="15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00000"/>
              </a:lnSpc>
              <a:buClr>
                <a:schemeClr val="tx2"/>
              </a:buClr>
              <a:buSzPct val="130000"/>
              <a:buNone/>
            </a:pPr>
            <a:r>
              <a:rPr lang="de-DE" sz="2000" dirty="0"/>
              <a:t>Leonard Gruber, Lukas Gruber, Yassine Ajoud</a:t>
            </a:r>
            <a:endParaRPr lang="en-GB" sz="160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6568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08DD3-DC92-34E6-E6E7-9587E3252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391061AF-DA9A-75B7-A988-A251234BAA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sz="2800" b="1" noProof="0" dirty="0"/>
              <a:t>Table of contents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181F6A76-8B0E-30C8-D537-8AE3567B6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059582"/>
            <a:ext cx="5688176" cy="3261872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dirty="0"/>
              <a:t>Introduction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Related Work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Approach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Experiments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Analysis</a:t>
            </a: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0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7507C556-3D51-94FD-C4FE-CA606659F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2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10571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52BE8065-DCB2-F562-BB93-F283AE16DC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dirty="0"/>
              <a:t>Introduction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3D11CD25-63E6-DF10-C1A1-8C6740139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3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1759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F1263-7870-8821-5F95-083161BAD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C4BF8C48-0CA6-0224-F2CA-4376227843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sz="2800" b="1" dirty="0"/>
              <a:t>Introduction</a:t>
            </a:r>
            <a:endParaRPr lang="en-GB" b="1" noProof="0" dirty="0"/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18990202-9600-AC9D-2953-72DC6FB5C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7920424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LLM agents call tools and act, for example they book a trip.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A booking costs real money, so a wrong action is worse than a wrong answer.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A single score like "38% solved" does not show what happens in the failures.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endParaRPr lang="en-US" sz="1800" spc="-1" dirty="0">
              <a:solidFill>
                <a:schemeClr val="dk2"/>
              </a:solidFill>
            </a:endParaRP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The question of this project is therefore: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b="1" dirty="0"/>
              <a:t>➜ </a:t>
            </a:r>
            <a:r>
              <a:rPr lang="en-US" sz="1800" b="1" spc="-1" dirty="0">
                <a:solidFill>
                  <a:schemeClr val="dk2"/>
                </a:solidFill>
              </a:rPr>
              <a:t>Is there more to agents than accuracy?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b="1" spc="-1" dirty="0">
                <a:solidFill>
                  <a:schemeClr val="dk2"/>
                </a:solidFill>
              </a:rPr>
              <a:t>Setup: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a travel booking task on a mock marketplace, where we always know the             	cheapest valid trip.</a:t>
            </a:r>
            <a:endParaRPr lang="en-GB" sz="1800" spc="-1" noProof="0" dirty="0">
              <a:solidFill>
                <a:schemeClr val="dk2"/>
              </a:solidFill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0A8F25DD-9D22-05BD-31B0-75CBA275D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4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9924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8C9C4-2278-A57A-F178-BAB500B2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3BA0AF9D-4F5C-CD13-8C2C-8BB907AE4B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sz="2800" b="1" dirty="0"/>
              <a:t>Introduction</a:t>
            </a:r>
            <a:endParaRPr lang="en-GB" b="1" noProof="0" dirty="0"/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B9840E28-1CD5-E118-385F-D0EFB2032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The project was divided into two parts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b="1" spc="-1" dirty="0">
                <a:solidFill>
                  <a:schemeClr val="dk2"/>
                </a:solidFill>
              </a:rPr>
              <a:t>Part I </a:t>
            </a:r>
            <a:r>
              <a:rPr lang="en-US" sz="1800" spc="-1" dirty="0">
                <a:solidFill>
                  <a:schemeClr val="dk2"/>
                </a:solidFill>
              </a:rPr>
              <a:t>measures accuracy, robustness, budget adherence, cost optimality and efficiency.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In </a:t>
            </a:r>
            <a:r>
              <a:rPr lang="en-US" sz="1800" b="1" spc="-1" dirty="0">
                <a:solidFill>
                  <a:schemeClr val="dk2"/>
                </a:solidFill>
              </a:rPr>
              <a:t>Part II </a:t>
            </a:r>
            <a:r>
              <a:rPr lang="en-US" sz="1800" spc="-1" dirty="0">
                <a:solidFill>
                  <a:schemeClr val="dk2"/>
                </a:solidFill>
              </a:rPr>
              <a:t>the environment turns hostile or changes during the task.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Attacker instructions are hidden in tool outputs.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b="1" dirty="0"/>
              <a:t>➜ </a:t>
            </a:r>
            <a:r>
              <a:rPr lang="en-US" sz="1800" dirty="0"/>
              <a:t>Every task is repeated five times to see how stable the agent really is.</a:t>
            </a:r>
            <a:br>
              <a:rPr lang="de-DE" sz="1800" dirty="0"/>
            </a:br>
            <a:r>
              <a:rPr lang="de-DE" sz="1800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We cut the budget after the agent has already booked.</a:t>
            </a:r>
            <a:endParaRPr lang="en-GB" sz="1800" spc="-1" noProof="0" dirty="0">
              <a:solidFill>
                <a:schemeClr val="dk2"/>
              </a:solidFill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FE158065-A9F4-171A-CAB7-884743924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5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0113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ECC84-185D-6CB1-E08E-223CF487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0156999C-B08F-6701-E17D-87C1E515CD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2295E3AD-CC03-7EAE-60A8-F7B3EFD4D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6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15734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19EF5-9932-3833-AE3B-5699155E7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ECE0054C-FEA1-2A2E-68BE-81EF3524C1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Related Work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96177941-5A55-6F73-8091-3EABAC3E8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568496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Our project follows a line of work about LLM agents that call tools.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A requirement for an agent is that the model can write correct tool calls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dirty="0"/>
              <a:t>➜ </a:t>
            </a:r>
            <a:r>
              <a:rPr lang="de-DE" sz="1800" b="1" dirty="0"/>
              <a:t>Gorilla </a:t>
            </a:r>
            <a:r>
              <a:rPr lang="de-DE" sz="1800" dirty="0" err="1"/>
              <a:t>showed</a:t>
            </a:r>
            <a:r>
              <a:rPr lang="de-DE" sz="1800" dirty="0"/>
              <a:t> </a:t>
            </a:r>
            <a:r>
              <a:rPr lang="de-DE" sz="1800" dirty="0" err="1"/>
              <a:t>that</a:t>
            </a:r>
            <a:r>
              <a:rPr lang="de-DE" sz="1800" dirty="0"/>
              <a:t> </a:t>
            </a:r>
            <a:r>
              <a:rPr lang="de-DE" sz="1800" dirty="0" err="1"/>
              <a:t>this</a:t>
            </a:r>
            <a:r>
              <a:rPr lang="de-DE" sz="1800" dirty="0"/>
              <a:t> </a:t>
            </a:r>
            <a:r>
              <a:rPr lang="de-DE" sz="1800" dirty="0" err="1"/>
              <a:t>skill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into</a:t>
            </a:r>
            <a:r>
              <a:rPr lang="de-DE" sz="1800" dirty="0"/>
              <a:t> a </a:t>
            </a:r>
            <a:r>
              <a:rPr lang="de-DE" sz="1800" dirty="0" err="1"/>
              <a:t>model</a:t>
            </a:r>
            <a:endParaRPr lang="de-DE" sz="1800" dirty="0"/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de-DE" sz="1800" b="1" dirty="0"/>
              <a:t>Gorilla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a </a:t>
            </a:r>
            <a:r>
              <a:rPr lang="de-DE" sz="1800" dirty="0" err="1"/>
              <a:t>finetuned</a:t>
            </a:r>
            <a:r>
              <a:rPr lang="de-DE" sz="1800" dirty="0"/>
              <a:t> LLaMA </a:t>
            </a:r>
            <a:r>
              <a:rPr lang="de-DE" sz="1800" dirty="0" err="1"/>
              <a:t>model</a:t>
            </a:r>
            <a:r>
              <a:rPr lang="de-DE" sz="1800" dirty="0"/>
              <a:t> and </a:t>
            </a:r>
            <a:r>
              <a:rPr lang="de-DE" sz="1800" dirty="0" err="1"/>
              <a:t>writes</a:t>
            </a:r>
            <a:r>
              <a:rPr lang="de-DE" sz="1800" dirty="0"/>
              <a:t> </a:t>
            </a:r>
            <a:r>
              <a:rPr lang="de-DE" sz="1800" dirty="0" err="1"/>
              <a:t>correct</a:t>
            </a:r>
            <a:r>
              <a:rPr lang="de-DE" sz="1800" dirty="0"/>
              <a:t> </a:t>
            </a:r>
            <a:r>
              <a:rPr lang="de-DE" sz="1800" dirty="0" err="1"/>
              <a:t>calls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over</a:t>
            </a:r>
            <a:r>
              <a:rPr lang="de-DE" sz="1800" dirty="0"/>
              <a:t> 1600 real APIs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In our project one correct call is not enough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dirty="0"/>
              <a:t>➜ The </a:t>
            </a:r>
            <a:r>
              <a:rPr lang="de-DE" sz="1800" dirty="0" err="1"/>
              <a:t>agent</a:t>
            </a:r>
            <a:r>
              <a:rPr lang="de-DE" sz="1800" dirty="0"/>
              <a:t> </a:t>
            </a:r>
            <a:r>
              <a:rPr lang="de-DE" sz="1800" dirty="0" err="1"/>
              <a:t>has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make</a:t>
            </a:r>
            <a:r>
              <a:rPr lang="de-DE" sz="1800" dirty="0"/>
              <a:t> </a:t>
            </a:r>
            <a:r>
              <a:rPr lang="de-DE" sz="1800" dirty="0" err="1"/>
              <a:t>several</a:t>
            </a:r>
            <a:r>
              <a:rPr lang="de-DE" sz="1800" dirty="0"/>
              <a:t> </a:t>
            </a:r>
            <a:r>
              <a:rPr lang="de-DE" sz="1800" dirty="0" err="1"/>
              <a:t>calls</a:t>
            </a:r>
            <a:r>
              <a:rPr lang="de-DE" sz="1800" dirty="0"/>
              <a:t>, </a:t>
            </a:r>
            <a:r>
              <a:rPr lang="de-DE" sz="1800" dirty="0" err="1"/>
              <a:t>keep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total </a:t>
            </a:r>
            <a:r>
              <a:rPr lang="de-DE" sz="1800" dirty="0" err="1"/>
              <a:t>cost</a:t>
            </a:r>
            <a:r>
              <a:rPr lang="de-DE" sz="1800" dirty="0"/>
              <a:t> </a:t>
            </a:r>
            <a:r>
              <a:rPr lang="de-DE" sz="1800" dirty="0" err="1"/>
              <a:t>inside</a:t>
            </a:r>
            <a:r>
              <a:rPr lang="de-DE" sz="1800" dirty="0"/>
              <a:t> </a:t>
            </a:r>
            <a:r>
              <a:rPr lang="de-DE" sz="1800" dirty="0" err="1"/>
              <a:t>budget</a:t>
            </a:r>
            <a:r>
              <a:rPr lang="de-DE" sz="1800" dirty="0"/>
              <a:t> and </a:t>
            </a:r>
            <a:r>
              <a:rPr lang="de-DE" sz="1800" dirty="0" err="1"/>
              <a:t>decline</a:t>
            </a:r>
            <a:r>
              <a:rPr lang="de-DE" sz="1800" dirty="0"/>
              <a:t> </a:t>
            </a:r>
            <a:r>
              <a:rPr lang="de-DE" sz="1800" dirty="0" err="1"/>
              <a:t>when</a:t>
            </a:r>
            <a:r>
              <a:rPr lang="de-DE" sz="1800" dirty="0"/>
              <a:t> </a:t>
            </a:r>
            <a:r>
              <a:rPr lang="de-DE" sz="1800" dirty="0" err="1"/>
              <a:t>no</a:t>
            </a:r>
            <a:r>
              <a:rPr lang="de-DE" sz="1800" dirty="0"/>
              <a:t> </a:t>
            </a:r>
            <a:r>
              <a:rPr lang="de-DE" sz="1800" dirty="0" err="1"/>
              <a:t>trip</a:t>
            </a:r>
            <a:r>
              <a:rPr lang="de-DE" sz="1800" dirty="0"/>
              <a:t> </a:t>
            </a:r>
            <a:r>
              <a:rPr lang="de-DE" sz="1800" dirty="0" err="1"/>
              <a:t>fits</a:t>
            </a:r>
            <a:endParaRPr lang="en-US" sz="1800" spc="-1" dirty="0">
              <a:solidFill>
                <a:schemeClr val="dk2"/>
              </a:solidFill>
            </a:endParaRP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b="1" spc="-1" dirty="0">
                <a:solidFill>
                  <a:schemeClr val="dk2"/>
                </a:solidFill>
              </a:rPr>
              <a:t>τ-bench</a:t>
            </a:r>
            <a:r>
              <a:rPr lang="en-US" sz="1800" spc="-1" dirty="0">
                <a:solidFill>
                  <a:schemeClr val="dk2"/>
                </a:solidFill>
              </a:rPr>
              <a:t> (tau-bench): closest to our task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sz="1800" dirty="0"/>
              <a:t>➜ </a:t>
            </a:r>
            <a:r>
              <a:rPr lang="de-DE" sz="1800" dirty="0" err="1"/>
              <a:t>there</a:t>
            </a:r>
            <a:r>
              <a:rPr lang="de-DE" sz="1800" dirty="0"/>
              <a:t> an </a:t>
            </a:r>
            <a:r>
              <a:rPr lang="de-DE" sz="1800" dirty="0" err="1"/>
              <a:t>agent</a:t>
            </a:r>
            <a:r>
              <a:rPr lang="de-DE" sz="1800" dirty="0"/>
              <a:t> </a:t>
            </a:r>
            <a:r>
              <a:rPr lang="de-DE" sz="1800" dirty="0" err="1"/>
              <a:t>helps</a:t>
            </a:r>
            <a:r>
              <a:rPr lang="de-DE" sz="1800" dirty="0"/>
              <a:t> a </a:t>
            </a:r>
            <a:r>
              <a:rPr lang="de-DE" sz="1800" dirty="0" err="1"/>
              <a:t>simulated</a:t>
            </a:r>
            <a:r>
              <a:rPr lang="de-DE" sz="1800" dirty="0"/>
              <a:t> </a:t>
            </a:r>
            <a:r>
              <a:rPr lang="de-DE" sz="1800" dirty="0" err="1"/>
              <a:t>user</a:t>
            </a:r>
            <a:r>
              <a:rPr lang="de-DE" sz="1800" dirty="0"/>
              <a:t> in an </a:t>
            </a:r>
            <a:r>
              <a:rPr lang="de-DE" sz="1800" dirty="0" err="1"/>
              <a:t>airline</a:t>
            </a:r>
            <a:r>
              <a:rPr lang="de-DE" sz="1800" dirty="0"/>
              <a:t> and </a:t>
            </a:r>
            <a:r>
              <a:rPr lang="de-DE" sz="1800" dirty="0" err="1"/>
              <a:t>retail</a:t>
            </a:r>
            <a:r>
              <a:rPr lang="de-DE" sz="1800" dirty="0"/>
              <a:t> </a:t>
            </a:r>
            <a:r>
              <a:rPr lang="de-DE" sz="1800" dirty="0" err="1"/>
              <a:t>domain</a:t>
            </a:r>
            <a:endParaRPr lang="en-GB" sz="1800" spc="-1" noProof="0" dirty="0">
              <a:solidFill>
                <a:schemeClr val="dk2"/>
              </a:solidFill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E229056C-C222-CC93-62E3-6556C9A08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7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294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B001B-C247-17DE-62FB-BAACE48A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A80ED1AA-14A9-7858-5F0F-3ED2497F8C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Related Work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FB1124C7-AB0B-D611-89C4-DDFEBF7BF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208456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b="1" spc="-1" dirty="0" err="1">
                <a:solidFill>
                  <a:schemeClr val="dk2"/>
                </a:solidFill>
              </a:rPr>
              <a:t>Rabanser</a:t>
            </a:r>
            <a:r>
              <a:rPr lang="en-US" sz="1800" b="1" spc="-1" dirty="0">
                <a:solidFill>
                  <a:schemeClr val="dk2"/>
                </a:solidFill>
              </a:rPr>
              <a:t> et al.: </a:t>
            </a:r>
            <a:r>
              <a:rPr lang="en-US" sz="1800" spc="-1" dirty="0">
                <a:solidFill>
                  <a:schemeClr val="dk2"/>
                </a:solidFill>
              </a:rPr>
              <a:t>one benchmark score does not show how dependable an agent is.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So they use twelve metrics in four groups: </a:t>
            </a:r>
            <a:r>
              <a:rPr lang="en-US" sz="1800" i="1" spc="-1" dirty="0">
                <a:solidFill>
                  <a:schemeClr val="dk2"/>
                </a:solidFill>
              </a:rPr>
              <a:t>consistency, robustness, predictability and safety</a:t>
            </a:r>
            <a:r>
              <a:rPr lang="en-US" sz="1800" spc="-1" dirty="0">
                <a:solidFill>
                  <a:schemeClr val="dk2"/>
                </a:solidFill>
              </a:rPr>
              <a:t>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Their finding: models got more capable, but not much more reliable. 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In our project we test the same groups.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Tool use also opens a door for attacks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b="1" spc="-1" dirty="0" err="1">
                <a:solidFill>
                  <a:schemeClr val="dk2"/>
                </a:solidFill>
              </a:rPr>
              <a:t>Greshake</a:t>
            </a:r>
            <a:r>
              <a:rPr lang="en-US" sz="1800" b="1" spc="-1" dirty="0">
                <a:solidFill>
                  <a:schemeClr val="dk2"/>
                </a:solidFill>
              </a:rPr>
              <a:t> et al. </a:t>
            </a:r>
            <a:r>
              <a:rPr lang="en-US" sz="1800" spc="-1" dirty="0">
                <a:solidFill>
                  <a:schemeClr val="dk2"/>
                </a:solidFill>
              </a:rPr>
              <a:t>calls this indirect prompt injection</a:t>
            </a:r>
            <a:br>
              <a:rPr lang="en-US" sz="1800" spc="-1" dirty="0">
                <a:solidFill>
                  <a:schemeClr val="dk2"/>
                </a:solidFill>
              </a:rPr>
            </a:br>
            <a:r>
              <a:rPr lang="de-DE" b="1" dirty="0"/>
              <a:t>➜ </a:t>
            </a:r>
            <a:r>
              <a:rPr lang="en-US" sz="1800" spc="-1" dirty="0">
                <a:solidFill>
                  <a:schemeClr val="dk2"/>
                </a:solidFill>
              </a:rPr>
              <a:t>Instructions hidden in content the model reads.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US" sz="1800" spc="-1" dirty="0">
                <a:solidFill>
                  <a:schemeClr val="dk2"/>
                </a:solidFill>
              </a:rPr>
              <a:t>In Part 2 we treat the </a:t>
            </a:r>
            <a:r>
              <a:rPr lang="en-US" sz="1800" spc="-1" dirty="0" err="1">
                <a:solidFill>
                  <a:schemeClr val="dk2"/>
                </a:solidFill>
              </a:rPr>
              <a:t>the</a:t>
            </a:r>
            <a:r>
              <a:rPr lang="en-US" sz="1800" spc="-1" dirty="0">
                <a:solidFill>
                  <a:schemeClr val="dk2"/>
                </a:solidFill>
              </a:rPr>
              <a:t> marketplace as untrusted and hide instructions.</a:t>
            </a:r>
            <a:endParaRPr lang="en-GB" sz="1800" spc="-1" noProof="0" dirty="0">
              <a:solidFill>
                <a:schemeClr val="dk2"/>
              </a:solidFill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6FB214E0-DC04-72D4-6952-EF39A6A45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8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725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3A6CA-67E1-40B0-E6C2-E64E9A50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C5505F1D-6D93-D194-6336-BD0B93CD73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124CF873-578D-EAD3-F43E-6B969C5E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9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3528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AF33-E329-F0AC-E12B-E83439358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7CC364DB-CFDA-3538-DE36-A6FBE19B3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Approach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373B75CC-77F2-6B4F-6225-2DD4F980C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GB" sz="1800" spc="-1" noProof="0" dirty="0">
                <a:solidFill>
                  <a:schemeClr val="dk2"/>
                </a:solidFill>
              </a:rPr>
              <a:t>text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FC05A18E-4880-FB5A-7633-4A7B38CD3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10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1889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02761-AD3F-6EC1-7C22-239E83F94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E1716816-5A13-8870-3970-C4CE52F294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Experiments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C5C94A7D-15D0-D436-7DE0-AC16BB47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11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88152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6906E-D117-275F-A7E3-9C1F1A4F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888C20BE-A1E2-F0B9-8344-481582CBDB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Experiments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B1428143-999C-24BF-D0A9-8258FD76F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GB" sz="1800" spc="-1" noProof="0" dirty="0">
                <a:solidFill>
                  <a:schemeClr val="dk2"/>
                </a:solidFill>
              </a:rPr>
              <a:t>text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C39CB6E6-926A-CDF5-41EE-3C45B2724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12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5695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DD5-5F92-405E-B7F5-0CEE6646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410E1849-482B-F6D3-C34A-92C0318DDE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1A6EBBAA-E508-3771-B317-F003A9030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13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0527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CF7F6-BD4F-EC88-69FC-34E1C0524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77A3D9E5-4C1C-D17D-C9B1-A7062D5349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Results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A3E6D40D-3087-C345-AC9A-654CC13D0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GB" sz="1800" spc="-1" noProof="0" dirty="0">
                <a:solidFill>
                  <a:schemeClr val="dk2"/>
                </a:solidFill>
              </a:rPr>
              <a:t>text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46ED3C8B-0037-F1C8-1AD6-444D3DE88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14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6693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5C84D-23E7-ECBA-062D-73791D4C6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8DDBDAE8-65BC-0382-4633-FF429779CC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BAF9A267-A5BE-8616-EA0B-62A9D105D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15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85471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78F17-EFC1-5D1A-B5B8-53F19E743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C3C1B6BA-D09E-7EFA-8BC1-ABCDD9479C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Analysis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3D37CFFD-6C8A-3229-787E-39450BEF1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GB" sz="1800" spc="-1" noProof="0" dirty="0">
                <a:solidFill>
                  <a:schemeClr val="dk2"/>
                </a:solidFill>
              </a:rPr>
              <a:t>text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3C556FD7-9D24-DF14-F527-438DEF792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16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41264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89BC4-7FAC-EF55-8C66-A554E8829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BA647520-7687-76A4-D274-4C9BEB5D6A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6599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4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en-GB" sz="4000" b="1" noProof="0" dirty="0"/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AB98DD18-01CD-7C90-725E-428CF5AC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C8FC03C-C266-4645-ABC5-645062898383}" type="slidenum">
              <a:rPr lang="en-GB" noProof="0" smtClean="0"/>
              <a:pPr algn="ctr"/>
              <a:t>17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7531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CFE0-E620-2A8B-7B9F-DBFC3B43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CB5ED058-DDCC-4A88-5279-C2E246BCCE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/>
              <a:t>Conclusion</a:t>
            </a:r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EC94BFED-B69E-BE4B-1B05-68DB280D0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en-GB" sz="1800" spc="-1" noProof="0" dirty="0">
                <a:solidFill>
                  <a:schemeClr val="dk2"/>
                </a:solidFill>
              </a:rPr>
              <a:t>text</a:t>
            </a: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BE3823BF-028C-7288-057E-C5EACAD02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18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0702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D7EAE-729B-1500-0CE2-9AE7238D1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A113038B-F103-C478-4C09-CB8FE45E7C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sz="2800" b="1" noProof="0" dirty="0"/>
              <a:t>References</a:t>
            </a:r>
            <a:endParaRPr lang="en-GB" b="1" noProof="0" dirty="0"/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92E1EB60-8844-60F4-C1CC-E49CEA311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15566"/>
            <a:ext cx="8424480" cy="3405888"/>
          </a:xfrm>
        </p:spPr>
        <p:txBody>
          <a:bodyPr/>
          <a:lstStyle/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de-DE" i="1" dirty="0"/>
              <a:t>S. G. Patil, T. Zhang, X. Wang and J. E. Gonzalez. Gorilla: Large </a:t>
            </a:r>
            <a:r>
              <a:rPr lang="de-DE" i="1" dirty="0" err="1"/>
              <a:t>language</a:t>
            </a:r>
            <a:r>
              <a:rPr lang="de-DE" i="1" dirty="0"/>
              <a:t> </a:t>
            </a:r>
            <a:r>
              <a:rPr lang="de-DE" i="1" dirty="0" err="1"/>
              <a:t>model</a:t>
            </a:r>
            <a:r>
              <a:rPr lang="de-DE" i="1" dirty="0"/>
              <a:t> </a:t>
            </a:r>
            <a:r>
              <a:rPr lang="de-DE" i="1" dirty="0" err="1"/>
              <a:t>connected</a:t>
            </a:r>
            <a:r>
              <a:rPr lang="de-DE" i="1" dirty="0"/>
              <a:t> </a:t>
            </a:r>
            <a:r>
              <a:rPr lang="de-DE" i="1" dirty="0" err="1"/>
              <a:t>with</a:t>
            </a:r>
            <a:r>
              <a:rPr lang="de-DE" i="1" dirty="0"/>
              <a:t> massive APIs. arXiv:2305.15334, 2023. https://github.com/ </a:t>
            </a:r>
            <a:r>
              <a:rPr lang="de-DE" i="1" dirty="0" err="1"/>
              <a:t>ShishirPatil</a:t>
            </a:r>
            <a:r>
              <a:rPr lang="de-DE" i="1" dirty="0"/>
              <a:t>/</a:t>
            </a:r>
            <a:r>
              <a:rPr lang="de-DE" i="1" dirty="0" err="1"/>
              <a:t>gorilla</a:t>
            </a:r>
            <a:endParaRPr lang="de-DE" i="1" dirty="0"/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de-DE" i="1" dirty="0"/>
              <a:t>S. Yao, N. Shinn, P. Razavi and K. Narasimhan. τ -</a:t>
            </a:r>
            <a:r>
              <a:rPr lang="de-DE" i="1" dirty="0" err="1"/>
              <a:t>bench</a:t>
            </a:r>
            <a:r>
              <a:rPr lang="de-DE" i="1" dirty="0"/>
              <a:t>: A benchmark </a:t>
            </a:r>
            <a:r>
              <a:rPr lang="de-DE" i="1" dirty="0" err="1"/>
              <a:t>for</a:t>
            </a:r>
            <a:r>
              <a:rPr lang="de-DE" i="1" dirty="0"/>
              <a:t> tool-agent- </a:t>
            </a:r>
            <a:r>
              <a:rPr lang="de-DE" i="1" dirty="0" err="1"/>
              <a:t>user</a:t>
            </a:r>
            <a:r>
              <a:rPr lang="de-DE" i="1" dirty="0"/>
              <a:t> </a:t>
            </a:r>
            <a:r>
              <a:rPr lang="de-DE" i="1" dirty="0" err="1"/>
              <a:t>interaction</a:t>
            </a:r>
            <a:r>
              <a:rPr lang="de-DE" i="1" dirty="0"/>
              <a:t> in real-</a:t>
            </a:r>
            <a:r>
              <a:rPr lang="de-DE" i="1" dirty="0" err="1"/>
              <a:t>world</a:t>
            </a:r>
            <a:r>
              <a:rPr lang="de-DE" i="1" dirty="0"/>
              <a:t> </a:t>
            </a:r>
            <a:r>
              <a:rPr lang="de-DE" i="1" dirty="0" err="1"/>
              <a:t>domains</a:t>
            </a:r>
            <a:r>
              <a:rPr lang="de-DE" i="1" dirty="0"/>
              <a:t>. arXiv:2406.12045, 2024.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de-DE" i="1" dirty="0"/>
              <a:t>S. </a:t>
            </a:r>
            <a:r>
              <a:rPr lang="de-DE" i="1" dirty="0" err="1"/>
              <a:t>Rabanser</a:t>
            </a:r>
            <a:r>
              <a:rPr lang="de-DE" i="1" dirty="0"/>
              <a:t>, S. Kapoor, P. Kirgis, K. Liu, S. Utpala and A. Narayanan. </a:t>
            </a:r>
            <a:r>
              <a:rPr lang="de-DE" i="1" dirty="0" err="1"/>
              <a:t>Towards</a:t>
            </a:r>
            <a:r>
              <a:rPr lang="de-DE" i="1" dirty="0"/>
              <a:t> a </a:t>
            </a:r>
            <a:r>
              <a:rPr lang="de-DE" i="1" dirty="0" err="1"/>
              <a:t>science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AI </a:t>
            </a:r>
            <a:r>
              <a:rPr lang="de-DE" i="1" dirty="0" err="1"/>
              <a:t>agent</a:t>
            </a:r>
            <a:r>
              <a:rPr lang="de-DE" i="1" dirty="0"/>
              <a:t> </a:t>
            </a:r>
            <a:r>
              <a:rPr lang="de-DE" i="1" dirty="0" err="1"/>
              <a:t>reliability</a:t>
            </a:r>
            <a:r>
              <a:rPr lang="de-DE" i="1" dirty="0"/>
              <a:t>. arXiv:2602.16666, 2026.</a:t>
            </a:r>
          </a:p>
          <a:p>
            <a:pPr lvl="2">
              <a:lnSpc>
                <a:spcPct val="100000"/>
              </a:lnSpc>
              <a:spcAft>
                <a:spcPts val="601"/>
              </a:spcAft>
              <a:buClr>
                <a:srgbClr val="003560"/>
              </a:buClr>
              <a:buSzPct val="130000"/>
              <a:buFont typeface="Wingdings" charset="2"/>
              <a:buChar char=""/>
            </a:pPr>
            <a:r>
              <a:rPr lang="de-DE" i="1" dirty="0"/>
              <a:t>K. Greshake, S. Abdelnabi, S. Mishra, C. Endres, T. Holz and M. Fritz. Not </a:t>
            </a:r>
            <a:r>
              <a:rPr lang="de-DE" i="1" dirty="0" err="1"/>
              <a:t>what</a:t>
            </a:r>
            <a:r>
              <a:rPr lang="de-DE" i="1" dirty="0"/>
              <a:t> </a:t>
            </a:r>
            <a:r>
              <a:rPr lang="de-DE" i="1" dirty="0" err="1"/>
              <a:t>you’ve</a:t>
            </a:r>
            <a:r>
              <a:rPr lang="de-DE" i="1" dirty="0"/>
              <a:t> </a:t>
            </a:r>
            <a:r>
              <a:rPr lang="de-DE" i="1" dirty="0" err="1"/>
              <a:t>signed</a:t>
            </a:r>
            <a:r>
              <a:rPr lang="de-DE" i="1" dirty="0"/>
              <a:t> </a:t>
            </a:r>
            <a:r>
              <a:rPr lang="de-DE" i="1" dirty="0" err="1"/>
              <a:t>up</a:t>
            </a:r>
            <a:r>
              <a:rPr lang="de-DE" i="1" dirty="0"/>
              <a:t> </a:t>
            </a:r>
            <a:r>
              <a:rPr lang="de-DE" i="1" dirty="0" err="1"/>
              <a:t>for</a:t>
            </a:r>
            <a:r>
              <a:rPr lang="de-DE" i="1" dirty="0"/>
              <a:t>: </a:t>
            </a:r>
            <a:r>
              <a:rPr lang="de-DE" i="1" dirty="0" err="1"/>
              <a:t>Compromising</a:t>
            </a:r>
            <a:r>
              <a:rPr lang="de-DE" i="1" dirty="0"/>
              <a:t> real-</a:t>
            </a:r>
            <a:r>
              <a:rPr lang="de-DE" i="1" dirty="0" err="1"/>
              <a:t>world</a:t>
            </a:r>
            <a:r>
              <a:rPr lang="de-DE" i="1" dirty="0"/>
              <a:t> LLM-</a:t>
            </a:r>
            <a:r>
              <a:rPr lang="de-DE" i="1" dirty="0" err="1"/>
              <a:t>integrated</a:t>
            </a:r>
            <a:r>
              <a:rPr lang="de-DE" i="1" dirty="0"/>
              <a:t> </a:t>
            </a:r>
            <a:r>
              <a:rPr lang="de-DE" i="1" dirty="0" err="1"/>
              <a:t>applications</a:t>
            </a:r>
            <a:r>
              <a:rPr lang="de-DE" i="1" dirty="0"/>
              <a:t> </a:t>
            </a:r>
            <a:r>
              <a:rPr lang="de-DE" i="1" dirty="0" err="1"/>
              <a:t>with</a:t>
            </a:r>
            <a:r>
              <a:rPr lang="de-DE" i="1" dirty="0"/>
              <a:t> </a:t>
            </a:r>
            <a:r>
              <a:rPr lang="de-DE" i="1" dirty="0" err="1"/>
              <a:t>indirect</a:t>
            </a:r>
            <a:r>
              <a:rPr lang="de-DE" i="1" dirty="0"/>
              <a:t> prompt </a:t>
            </a:r>
            <a:r>
              <a:rPr lang="de-DE" i="1" dirty="0" err="1"/>
              <a:t>injection</a:t>
            </a:r>
            <a:r>
              <a:rPr lang="de-DE" i="1" dirty="0"/>
              <a:t>. arXiv:2302.12173, 2023.</a:t>
            </a:r>
            <a:endParaRPr lang="en-GB" sz="1800" i="1" spc="-1" noProof="0" dirty="0">
              <a:solidFill>
                <a:schemeClr val="dk2"/>
              </a:solidFill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59BC8025-C4D6-F2D0-B739-D0DBDBBD3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noProof="0" smtClean="0"/>
              <a:pPr/>
              <a:t>19</a:t>
            </a:fld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72688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Logo der RUB">
            <a:extLst>
              <a:ext uri="{FF2B5EF4-FFF2-40B4-BE49-F238E27FC236}">
                <a16:creationId xmlns:a16="http://schemas.microsoft.com/office/drawing/2014/main" id="{80003CB7-2083-C803-7547-BDE78423C0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347" y="2090831"/>
            <a:ext cx="3601305" cy="961839"/>
          </a:xfrm>
          <a:prstGeom prst="rect">
            <a:avLst/>
          </a:prstGeom>
        </p:spPr>
      </p:pic>
      <p:sp>
        <p:nvSpPr>
          <p:cNvPr id="3" name="Titel 2" hidden="1">
            <a:extLst>
              <a:ext uri="{FF2B5EF4-FFF2-40B4-BE49-F238E27FC236}">
                <a16:creationId xmlns:a16="http://schemas.microsoft.com/office/drawing/2014/main" id="{37C5D7C1-9B04-BE56-E202-2703CC179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99" y="-956642"/>
            <a:ext cx="8172000" cy="720000"/>
          </a:xfrm>
        </p:spPr>
        <p:txBody>
          <a:bodyPr/>
          <a:lstStyle/>
          <a:p>
            <a:r>
              <a:rPr lang="en-GB" noProof="0" dirty="0" err="1"/>
              <a:t>Endfolie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73428927"/>
      </p:ext>
    </p:extLst>
  </p:cSld>
  <p:clrMapOvr>
    <a:masterClrMapping/>
  </p:clrMapOvr>
</p:sld>
</file>

<file path=ppt/theme/theme1.xml><?xml version="1.0" encoding="utf-8"?>
<a:theme xmlns:a="http://schemas.openxmlformats.org/drawingml/2006/main" name="PowerPoint Master RUB">
  <a:themeElements>
    <a:clrScheme name="RUB">
      <a:dk1>
        <a:sysClr val="windowText" lastClr="000000"/>
      </a:dk1>
      <a:lt1>
        <a:sysClr val="window" lastClr="FFFFFF"/>
      </a:lt1>
      <a:dk2>
        <a:srgbClr val="003560"/>
      </a:dk2>
      <a:lt2>
        <a:srgbClr val="8DAE10"/>
      </a:lt2>
      <a:accent1>
        <a:srgbClr val="FFCC00"/>
      </a:accent1>
      <a:accent2>
        <a:srgbClr val="EE7203"/>
      </a:accent2>
      <a:accent3>
        <a:srgbClr val="E6332A"/>
      </a:accent3>
      <a:accent4>
        <a:srgbClr val="B71E3F"/>
      </a:accent4>
      <a:accent5>
        <a:srgbClr val="9C5516"/>
      </a:accent5>
      <a:accent6>
        <a:srgbClr val="59211C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PT_RUB_03a.potx" id="{C867D821-36E8-4CDA-B68D-4949E463F39D}" vid="{F84F8B3F-9528-42A9-B5AE-3004D54145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RUB-Präsentation-16zu9</Template>
  <TotalTime>0</TotalTime>
  <Words>654</Words>
  <Application>Microsoft Office PowerPoint</Application>
  <PresentationFormat>Bildschirmpräsentation (16:9)</PresentationFormat>
  <Paragraphs>98</Paragraphs>
  <Slides>20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Arial</vt:lpstr>
      <vt:lpstr>Calibri</vt:lpstr>
      <vt:lpstr>Wingdings</vt:lpstr>
      <vt:lpstr>PowerPoint Master RUB</vt:lpstr>
      <vt:lpstr>PowerPoint-Präsentation</vt:lpstr>
      <vt:lpstr>Table of contents</vt:lpstr>
      <vt:lpstr>   Introduction</vt:lpstr>
      <vt:lpstr>Introduction</vt:lpstr>
      <vt:lpstr>Introduction</vt:lpstr>
      <vt:lpstr>   Related Work</vt:lpstr>
      <vt:lpstr>Related Work</vt:lpstr>
      <vt:lpstr>Related Work</vt:lpstr>
      <vt:lpstr>   Approach</vt:lpstr>
      <vt:lpstr>Approach</vt:lpstr>
      <vt:lpstr>   Experiments</vt:lpstr>
      <vt:lpstr>Experiments</vt:lpstr>
      <vt:lpstr>   Results</vt:lpstr>
      <vt:lpstr>Results</vt:lpstr>
      <vt:lpstr>   Analysis</vt:lpstr>
      <vt:lpstr>Analysis</vt:lpstr>
      <vt:lpstr>   Conclusion</vt:lpstr>
      <vt:lpstr>Conclusion</vt:lpstr>
      <vt:lpstr>References</vt:lpstr>
      <vt:lpstr>Endfolie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Yassine Ajoud</cp:lastModifiedBy>
  <cp:revision>331</cp:revision>
  <dcterms:created xsi:type="dcterms:W3CDTF">2018-07-02T13:45:44Z</dcterms:created>
  <dcterms:modified xsi:type="dcterms:W3CDTF">2026-07-18T22:08:25Z</dcterms:modified>
</cp:coreProperties>
</file>